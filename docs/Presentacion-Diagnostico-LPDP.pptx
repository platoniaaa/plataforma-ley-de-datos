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2200" cy="68580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5029200" y="-1600200"/>
            <a:ext cx="7223760" cy="1005840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48072" y="-1600200"/>
            <a:ext cx="7223760" cy="10058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ho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860" y="960120"/>
            <a:ext cx="2103120" cy="6426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5080" y="2212848"/>
            <a:ext cx="54406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3600" b="1">
                <a:solidFill>
                  <a:srgbClr val="111111"/>
                </a:solidFill>
                <a:latin typeface="Arial Narrow"/>
              </a:rPr>
              <a:t>DIAGNÓSTICO</a:t>
            </a:r>
          </a:p>
          <a:p>
            <a:pPr algn="ctr">
              <a:lnSpc>
                <a:spcPct val="102000"/>
              </a:lnSpc>
            </a:pPr>
            <a:r>
              <a:rPr sz="3600" b="1">
                <a:solidFill>
                  <a:srgbClr val="111111"/>
                </a:solidFill>
                <a:latin typeface="Arial Narrow"/>
              </a:rPr>
              <a:t>LEY DE PROTECCIÓN</a:t>
            </a:r>
          </a:p>
          <a:p>
            <a:pPr algn="ctr">
              <a:lnSpc>
                <a:spcPct val="102000"/>
              </a:lnSpc>
            </a:pPr>
            <a:r>
              <a:rPr sz="3600" b="1">
                <a:solidFill>
                  <a:srgbClr val="111111"/>
                </a:solidFill>
                <a:latin typeface="Arial Narrow"/>
              </a:rPr>
              <a:t>DE DATOS PERSONALES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80" y="4224528"/>
            <a:ext cx="1554480" cy="4114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4526280"/>
            <a:ext cx="5440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0">
                <a:solidFill>
                  <a:srgbClr val="3F3F3F"/>
                </a:solidFill>
                <a:latin typeface="Arial"/>
              </a:rPr>
              <a:t>Ley N° 21.719  ·  Levantamiento por dominios</a:t>
            </a:r>
          </a:p>
        </p:txBody>
      </p:sp>
      <p:pic>
        <p:nvPicPr>
          <p:cNvPr id="10" name="Picture 9" descr="logo-p3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980" y="5230368"/>
            <a:ext cx="2468880" cy="5625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052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111111"/>
                </a:solidFill>
                <a:latin typeface="Arial Narrow"/>
              </a:rPr>
              <a:t>POR QUÉ CONTAMOS CONTIGO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A7A7A"/>
                </a:solidFill>
                <a:latin typeface="Arial"/>
              </a:rPr>
              <a:t>Tu experiencia es la pieza que falta en el diagnóstico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234440" cy="50292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ho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10896"/>
            <a:ext cx="1691640" cy="51689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74519"/>
            <a:ext cx="3529584" cy="658368"/>
          </a:xfrm>
          <a:prstGeom prst="roundRect">
            <a:avLst>
              <a:gd name="adj" fmla="val 12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35607" y="1874519"/>
            <a:ext cx="252374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</a:rPr>
              <a:t>NO ES UN EXAMEN</a:t>
            </a:r>
          </a:p>
        </p:txBody>
      </p:sp>
      <p:sp>
        <p:nvSpPr>
          <p:cNvPr id="9" name="Oval 8"/>
          <p:cNvSpPr/>
          <p:nvPr/>
        </p:nvSpPr>
        <p:spPr>
          <a:xfrm>
            <a:off x="841247" y="1993391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933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CC0000"/>
                </a:solidFill>
                <a:latin typeface="Segoe UI Symbol"/>
              </a:rPr>
              <a:t>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532887"/>
            <a:ext cx="3529584" cy="1700784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807208"/>
            <a:ext cx="290779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3F3F3F"/>
                </a:solidFill>
                <a:latin typeface="Arial"/>
              </a:rPr>
              <a:t>No hay respuestas buenas ni malas. Solo queremos retratar cómo son las cosas hoy en tu área.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874519"/>
            <a:ext cx="3529584" cy="658368"/>
          </a:xfrm>
          <a:prstGeom prst="roundRect">
            <a:avLst>
              <a:gd name="adj" fmla="val 12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1874519"/>
            <a:ext cx="252374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</a:rPr>
              <a:t>SOLO LO TUYO</a:t>
            </a:r>
          </a:p>
        </p:txBody>
      </p:sp>
      <p:sp>
        <p:nvSpPr>
          <p:cNvPr id="15" name="Oval 14"/>
          <p:cNvSpPr/>
          <p:nvPr/>
        </p:nvSpPr>
        <p:spPr>
          <a:xfrm>
            <a:off x="4709159" y="1993391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19933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CC0000"/>
                </a:solidFill>
                <a:latin typeface="Segoe UI Symbol"/>
              </a:rPr>
              <a:t>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532887"/>
            <a:ext cx="3529584" cy="1700784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6" y="2807208"/>
            <a:ext cx="290779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3F3F3F"/>
                </a:solidFill>
                <a:latin typeface="Arial"/>
              </a:rPr>
              <a:t>Respondes únicamente los dominios de tu área y de tu conocimiento. Ni más, ni menos.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1" y="1874519"/>
            <a:ext cx="3529584" cy="658368"/>
          </a:xfrm>
          <a:prstGeom prst="roundRect">
            <a:avLst>
              <a:gd name="adj" fmla="val 12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1431" y="1874519"/>
            <a:ext cx="252374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</a:rPr>
              <a:t>TODO SUMA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1" y="1993391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1" y="199339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CC0000"/>
                </a:solidFill>
                <a:latin typeface="Segoe UI Symbol"/>
              </a:rPr>
              <a:t>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02751" y="2532887"/>
            <a:ext cx="3529584" cy="1700784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13647" y="2807208"/>
            <a:ext cx="290779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3F3F3F"/>
                </a:solidFill>
                <a:latin typeface="Arial"/>
              </a:rPr>
              <a:t>Si algo aún no existe, decirlo también ayuda: ahí aparecen las oportunidades de mejora.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846320"/>
            <a:ext cx="10881360" cy="658368"/>
          </a:xfrm>
          <a:prstGeom prst="roundRect">
            <a:avLst>
              <a:gd name="adj" fmla="val 16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4846320"/>
            <a:ext cx="103327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C0000"/>
                </a:solidFill>
                <a:latin typeface="Arial"/>
              </a:rPr>
              <a:t>No necesitas ser experto en la ley: </a:t>
            </a:r>
            <a:r>
              <a:rPr sz="1500" b="0">
                <a:solidFill>
                  <a:srgbClr val="3F3F3F"/>
                </a:solidFill>
                <a:latin typeface="Arial"/>
              </a:rPr>
              <a:t>necesitamos lo que ya sabes de tu día a día.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052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111111"/>
                </a:solidFill>
                <a:latin typeface="Arial Narrow"/>
              </a:rPr>
              <a:t>LAS CINCO ETAPAS DEL PROCESO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A7A7A"/>
                </a:solidFill>
                <a:latin typeface="Arial"/>
              </a:rPr>
              <a:t>Del diagnóstico a la certificación, con evidencia en cada paso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234440" cy="50292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ho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10896"/>
            <a:ext cx="1691640" cy="516890"/>
          </a:xfrm>
          <a:prstGeom prst="rect">
            <a:avLst/>
          </a:prstGeom>
        </p:spPr>
      </p:pic>
      <p:sp>
        <p:nvSpPr>
          <p:cNvPr id="7" name="Chevron 6"/>
          <p:cNvSpPr/>
          <p:nvPr/>
        </p:nvSpPr>
        <p:spPr>
          <a:xfrm>
            <a:off x="566928" y="1920240"/>
            <a:ext cx="2431023" cy="1188720"/>
          </a:xfrm>
          <a:prstGeom prst="chevron">
            <a:avLst>
              <a:gd name="adj" fmla="val 22000"/>
            </a:avLst>
          </a:prstGeom>
          <a:solidFill>
            <a:srgbClr val="DF0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15511" y="206654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5511" y="20665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DF040E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542032"/>
            <a:ext cx="192810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 Narrow"/>
              </a:rPr>
              <a:t>DIAGNÓSTICO</a:t>
            </a:r>
          </a:p>
        </p:txBody>
      </p:sp>
      <p:sp>
        <p:nvSpPr>
          <p:cNvPr id="11" name="Oval 10"/>
          <p:cNvSpPr/>
          <p:nvPr/>
        </p:nvSpPr>
        <p:spPr>
          <a:xfrm>
            <a:off x="1416679" y="3401568"/>
            <a:ext cx="548640" cy="548640"/>
          </a:xfrm>
          <a:prstGeom prst="ellipse">
            <a:avLst/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6679" y="34015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CC0000"/>
                </a:solidFill>
                <a:latin typeface="Segoe UI Symbol"/>
              </a:rPr>
              <a:t>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133087"/>
            <a:ext cx="20469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2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Cada área evalúa sus prácticas y el consultor valida las respuestas.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5071" y="3520440"/>
            <a:ext cx="7315" cy="178308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2723631" y="1920240"/>
            <a:ext cx="2431023" cy="1188720"/>
          </a:xfrm>
          <a:prstGeom prst="chevron">
            <a:avLst>
              <a:gd name="adj" fmla="val 22000"/>
            </a:avLst>
          </a:prstGeom>
          <a:solidFill>
            <a:srgbClr val="CC0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72215" y="206654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2215" y="20665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CC0410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7679" y="2542032"/>
            <a:ext cx="192810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 Narrow"/>
              </a:rPr>
              <a:t>ANÁLISIS</a:t>
            </a:r>
          </a:p>
        </p:txBody>
      </p:sp>
      <p:sp>
        <p:nvSpPr>
          <p:cNvPr id="19" name="Oval 18"/>
          <p:cNvSpPr/>
          <p:nvPr/>
        </p:nvSpPr>
        <p:spPr>
          <a:xfrm>
            <a:off x="3573383" y="3401568"/>
            <a:ext cx="548640" cy="548640"/>
          </a:xfrm>
          <a:prstGeom prst="ellipse">
            <a:avLst/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73383" y="34015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CC0000"/>
                </a:solidFill>
                <a:latin typeface="Segoe UI Symbol"/>
              </a:rPr>
              <a:t>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5071" y="4133087"/>
            <a:ext cx="20469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2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Se identifican las brechas de cumplimiento y se evalúan los riesgos.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71775" y="3520440"/>
            <a:ext cx="7315" cy="178308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evron 22"/>
          <p:cNvSpPr/>
          <p:nvPr/>
        </p:nvSpPr>
        <p:spPr>
          <a:xfrm>
            <a:off x="4880335" y="1920240"/>
            <a:ext cx="2431023" cy="1188720"/>
          </a:xfrm>
          <a:prstGeom prst="chevron">
            <a:avLst>
              <a:gd name="adj" fmla="val 22000"/>
            </a:avLst>
          </a:prstGeom>
          <a:solidFill>
            <a:srgbClr val="B80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28919" y="206654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28919" y="20665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8050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64383" y="2542032"/>
            <a:ext cx="192810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 Narrow"/>
              </a:rPr>
              <a:t>TRATAMIENTO</a:t>
            </a:r>
          </a:p>
        </p:txBody>
      </p:sp>
      <p:sp>
        <p:nvSpPr>
          <p:cNvPr id="27" name="Oval 26"/>
          <p:cNvSpPr/>
          <p:nvPr/>
        </p:nvSpPr>
        <p:spPr>
          <a:xfrm>
            <a:off x="5730087" y="3401568"/>
            <a:ext cx="548640" cy="548640"/>
          </a:xfrm>
          <a:prstGeom prst="ellipse">
            <a:avLst/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30087" y="34015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CC0000"/>
                </a:solidFill>
                <a:latin typeface="Segoe UI Symbol"/>
              </a:rPr>
              <a:t>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71775" y="4133087"/>
            <a:ext cx="20469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2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Un plan de acción con responsables, plazos y evidencia esperada.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28479" y="3520440"/>
            <a:ext cx="7315" cy="178308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evron 30"/>
          <p:cNvSpPr/>
          <p:nvPr/>
        </p:nvSpPr>
        <p:spPr>
          <a:xfrm>
            <a:off x="7037039" y="1920240"/>
            <a:ext cx="2431023" cy="1188720"/>
          </a:xfrm>
          <a:prstGeom prst="chevron">
            <a:avLst>
              <a:gd name="adj" fmla="val 22000"/>
            </a:avLst>
          </a:prstGeom>
          <a:solidFill>
            <a:srgbClr val="9C0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85623" y="206654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5623" y="20665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C040C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1087" y="2542032"/>
            <a:ext cx="192810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 Narrow"/>
              </a:rPr>
              <a:t>SEGUIMIENTO</a:t>
            </a:r>
          </a:p>
        </p:txBody>
      </p:sp>
      <p:sp>
        <p:nvSpPr>
          <p:cNvPr id="35" name="Oval 34"/>
          <p:cNvSpPr/>
          <p:nvPr/>
        </p:nvSpPr>
        <p:spPr>
          <a:xfrm>
            <a:off x="7886791" y="3401568"/>
            <a:ext cx="548640" cy="548640"/>
          </a:xfrm>
          <a:prstGeom prst="ellipse">
            <a:avLst/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86791" y="34015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CC0000"/>
                </a:solidFill>
                <a:latin typeface="Segoe UI Symbol"/>
              </a:rPr>
              <a:t>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28479" y="4133087"/>
            <a:ext cx="20469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2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La organización ejecuta las acciones y sostiene la mejora continua.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85183" y="3520440"/>
            <a:ext cx="7315" cy="178308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evron 38"/>
          <p:cNvSpPr/>
          <p:nvPr/>
        </p:nvSpPr>
        <p:spPr>
          <a:xfrm>
            <a:off x="9193743" y="1920240"/>
            <a:ext cx="2431023" cy="1188720"/>
          </a:xfrm>
          <a:prstGeom prst="chevron">
            <a:avLst>
              <a:gd name="adj" fmla="val 22000"/>
            </a:avLst>
          </a:prstGeom>
          <a:solidFill>
            <a:srgbClr val="7F0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842327" y="206654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42327" y="20665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7F0308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7791" y="2542032"/>
            <a:ext cx="192810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 Narrow"/>
              </a:rPr>
              <a:t>CERTIFICACIÓN</a:t>
            </a:r>
          </a:p>
        </p:txBody>
      </p:sp>
      <p:sp>
        <p:nvSpPr>
          <p:cNvPr id="43" name="Oval 42"/>
          <p:cNvSpPr/>
          <p:nvPr/>
        </p:nvSpPr>
        <p:spPr>
          <a:xfrm>
            <a:off x="10043495" y="3401568"/>
            <a:ext cx="548640" cy="548640"/>
          </a:xfrm>
          <a:prstGeom prst="ellipse">
            <a:avLst/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3495" y="34015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CC0000"/>
                </a:solidFill>
                <a:latin typeface="Segoe UI Symbol"/>
              </a:rPr>
              <a:t>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5183" y="4133087"/>
            <a:ext cx="20469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2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Al alcanzar el umbral de madurez, se prepara y cierra la certificación.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5760720"/>
            <a:ext cx="108813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592531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C0000"/>
                </a:solidFill>
                <a:latin typeface="Arial Narrow"/>
              </a:rPr>
              <a:t>ESTÁS AQUÍ:  </a:t>
            </a:r>
            <a:r>
              <a:rPr sz="1300" b="0">
                <a:solidFill>
                  <a:srgbClr val="3F3F3F"/>
                </a:solidFill>
                <a:latin typeface="Arial"/>
              </a:rPr>
              <a:t>etapa 1 — tu respuesta pone en marcha todo el proceso.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052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111111"/>
                </a:solidFill>
                <a:latin typeface="Arial Narrow"/>
              </a:rPr>
              <a:t>CÓMO SE MIDE LA MADUREZ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A7A7A"/>
                </a:solidFill>
                <a:latin typeface="Arial"/>
              </a:rPr>
              <a:t>Cada práctica se evalúa en una escala de 0 a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234440" cy="50292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ho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10896"/>
            <a:ext cx="1691640" cy="51689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3854196"/>
            <a:ext cx="1644853" cy="672084"/>
          </a:xfrm>
          <a:prstGeom prst="roundRect">
            <a:avLst>
              <a:gd name="adj" fmla="val 7000"/>
            </a:avLst>
          </a:prstGeom>
          <a:solidFill>
            <a:srgbClr val="B7B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973068"/>
            <a:ext cx="16448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 Narrow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4672584"/>
            <a:ext cx="175458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11111"/>
                </a:solidFill>
                <a:latin typeface="Arial Narrow"/>
              </a:rPr>
              <a:t>NO EXISTE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5001768"/>
            <a:ext cx="175458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Arial"/>
              </a:rPr>
              <a:t>No existe práctica, control ni evidencia.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49525" y="3540556"/>
            <a:ext cx="1644853" cy="985723"/>
          </a:xfrm>
          <a:prstGeom prst="roundRect">
            <a:avLst>
              <a:gd name="adj" fmla="val 7000"/>
            </a:avLst>
          </a:prstGeom>
          <a:solidFill>
            <a:srgbClr val="F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49525" y="3659428"/>
            <a:ext cx="16448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 Narrow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4661" y="4672584"/>
            <a:ext cx="175458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11111"/>
                </a:solidFill>
                <a:latin typeface="Arial Narrow"/>
              </a:rPr>
              <a:t>INICIAL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4661" y="5001768"/>
            <a:ext cx="175458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Arial"/>
              </a:rPr>
              <a:t>Existe informalmente y depende de personas.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2122" y="3226917"/>
            <a:ext cx="1644853" cy="1299362"/>
          </a:xfrm>
          <a:prstGeom prst="roundRect">
            <a:avLst>
              <a:gd name="adj" fmla="val 7000"/>
            </a:avLst>
          </a:prstGeom>
          <a:solidFill>
            <a:srgbClr val="E8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2122" y="3345789"/>
            <a:ext cx="16448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 Narrow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7258" y="4672584"/>
            <a:ext cx="175458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11111"/>
                </a:solidFill>
                <a:latin typeface="Arial Narrow"/>
              </a:rPr>
              <a:t>PARCIAL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7258" y="5001768"/>
            <a:ext cx="175458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Arial"/>
              </a:rPr>
              <a:t>Existe parcialmente o solo en algunas áreas.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4719" y="2913278"/>
            <a:ext cx="1644853" cy="1613001"/>
          </a:xfrm>
          <a:prstGeom prst="roundRect">
            <a:avLst>
              <a:gd name="adj" fmla="val 7000"/>
            </a:avLst>
          </a:prstGeom>
          <a:solidFill>
            <a:srgbClr val="DF0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4719" y="3032150"/>
            <a:ext cx="16448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 Narrow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9855" y="4672584"/>
            <a:ext cx="175458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11111"/>
                </a:solidFill>
                <a:latin typeface="Arial Narrow"/>
              </a:rPr>
              <a:t>IMPLEMENTADO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9855" y="5001768"/>
            <a:ext cx="175458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Arial"/>
              </a:rPr>
              <a:t>Existe formalmente y está documentado.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7316" y="2599639"/>
            <a:ext cx="1644853" cy="1926640"/>
          </a:xfrm>
          <a:prstGeom prst="roundRect">
            <a:avLst>
              <a:gd name="adj" fmla="val 7000"/>
            </a:avLst>
          </a:prstGeom>
          <a:solidFill>
            <a:srgbClr val="B00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7316" y="2718511"/>
            <a:ext cx="16448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 Narrow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2452" y="4672584"/>
            <a:ext cx="175458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11111"/>
                </a:solidFill>
                <a:latin typeface="Arial Narrow"/>
              </a:rPr>
              <a:t>GESTIONADO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2452" y="5001768"/>
            <a:ext cx="175458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Arial"/>
              </a:rPr>
              <a:t>Se monitorea mediante indicadores.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79913" y="2286000"/>
            <a:ext cx="1644853" cy="2240280"/>
          </a:xfrm>
          <a:prstGeom prst="roundRect">
            <a:avLst>
              <a:gd name="adj" fmla="val 7000"/>
            </a:avLst>
          </a:prstGeom>
          <a:solidFill>
            <a:srgbClr val="7F0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79913" y="2404872"/>
            <a:ext cx="16448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 Narrow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5049" y="4672584"/>
            <a:ext cx="175458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11111"/>
                </a:solidFill>
                <a:latin typeface="Arial Narrow"/>
              </a:rPr>
              <a:t>OPTIMIZADO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5049" y="5001768"/>
            <a:ext cx="175458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7A7A7A"/>
                </a:solidFill>
                <a:latin typeface="Arial"/>
              </a:rPr>
              <a:t>Automatizado y en mejora continua.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870448"/>
            <a:ext cx="10881360" cy="566928"/>
          </a:xfrm>
          <a:prstGeom prst="roundRect">
            <a:avLst>
              <a:gd name="adj" fmla="val 16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587044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CC0000"/>
                </a:solidFill>
                <a:latin typeface="Arial Narrow"/>
              </a:rPr>
              <a:t>LA META NO ES TENERLO TODO EN 5 HOY:  </a:t>
            </a:r>
            <a:r>
              <a:rPr sz="1300" b="0">
                <a:solidFill>
                  <a:srgbClr val="3F3F3F"/>
                </a:solidFill>
                <a:latin typeface="Arial"/>
              </a:rPr>
              <a:t>es saber dónde estamos para avanzar juntos.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052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111111"/>
                </a:solidFill>
                <a:latin typeface="Arial Narrow"/>
              </a:rPr>
              <a:t>RESPONDER ES MUY FÁCIL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A7A7A"/>
                </a:solidFill>
                <a:latin typeface="Arial"/>
              </a:rPr>
              <a:t>Tres pasos por cada pregunta del diagnóstico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234440" cy="50292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ho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10896"/>
            <a:ext cx="1691640" cy="51689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66928" y="1965960"/>
            <a:ext cx="566928" cy="56692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965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 Narrow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938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Arial Narrow"/>
              </a:rPr>
              <a:t>ELIGE EL NIVEL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7685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F3F3F"/>
                </a:solidFill>
                <a:latin typeface="Arial"/>
              </a:rPr>
              <a:t>Marca del 0 al 5 según cómo esté esa práctica hoy en tu área.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3081528"/>
            <a:ext cx="566928" cy="56692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08152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 Narrow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4495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Arial Narrow"/>
              </a:rPr>
              <a:t>AGREGA UN COMENTARIO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9242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F3F3F"/>
                </a:solidFill>
                <a:latin typeface="Arial"/>
              </a:rPr>
              <a:t>Una línea basta para dar contexto a tu respuesta.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4197096"/>
            <a:ext cx="566928" cy="56692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19709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 Narrow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605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Arial Narrow"/>
              </a:rPr>
              <a:t>ADJUNTA LA EVIDENCIA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50799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F3F3F"/>
                </a:solidFill>
                <a:latin typeface="Arial"/>
              </a:rPr>
              <a:t>Si tienes un documento que lo respalde, súbelo a la plataforma.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440680"/>
            <a:ext cx="5486400" cy="548640"/>
          </a:xfrm>
          <a:prstGeom prst="roundRect">
            <a:avLst>
              <a:gd name="adj" fmla="val 16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4406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C0000"/>
                </a:solidFill>
                <a:latin typeface="Arial Narrow"/>
              </a:rPr>
              <a:t>¿SIN TIEMPO?  </a:t>
            </a:r>
            <a:r>
              <a:rPr sz="1250" b="0">
                <a:solidFill>
                  <a:srgbClr val="3F3F3F"/>
                </a:solidFill>
                <a:latin typeface="Arial"/>
              </a:rPr>
              <a:t>Guarda y retoma donde quedaste.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1874519"/>
            <a:ext cx="4983480" cy="3703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29400" y="1874519"/>
            <a:ext cx="4983480" cy="38404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85432" y="1874519"/>
            <a:ext cx="4526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 Narrow"/>
              </a:rPr>
              <a:t>PREGUNTA DEL DIAGNÓSTICO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441448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¿Se encuentra documentada la finalidad de cada tratamiento de datos personales?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264408"/>
            <a:ext cx="411480" cy="4114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3264408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7A7A7A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3264408"/>
            <a:ext cx="411480" cy="4114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3264408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7A7A7A"/>
                </a:solidFill>
                <a:latin typeface="Arial"/>
              </a:rP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09560" y="3264408"/>
            <a:ext cx="411480" cy="4114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9560" y="3264408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7A7A7A"/>
                </a:solidFill>
                <a:latin typeface="Arial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3264408"/>
            <a:ext cx="411480" cy="4114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3264408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7A7A7A"/>
                </a:solidFill>
                <a:latin typeface="Arial"/>
              </a:rPr>
              <a:t>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5400" y="3264408"/>
            <a:ext cx="411480" cy="4114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3264408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7A7A7A"/>
                </a:solidFill>
                <a:latin typeface="Arial"/>
              </a:rP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18320" y="3264408"/>
            <a:ext cx="411480" cy="411480"/>
          </a:xfrm>
          <a:prstGeom prst="roundRect">
            <a:avLst>
              <a:gd name="adj" fmla="val 1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3264408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21240" y="3264408"/>
            <a:ext cx="694944" cy="4114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1240" y="3264408"/>
            <a:ext cx="69494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7A7A7A"/>
                </a:solidFill>
                <a:latin typeface="Arial"/>
              </a:rPr>
              <a:t>N/A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941063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A7A7A"/>
                </a:solidFill>
                <a:latin typeface="Arial Narrow"/>
              </a:rPr>
              <a:t>COMENTARIO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03720" y="4233672"/>
            <a:ext cx="443484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31736" y="4233672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3F3F3F"/>
                </a:solidFill>
                <a:latin typeface="Arial"/>
              </a:rPr>
              <a:t>Documentado en el registro de actividades de tratamiento (RAT).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03720" y="4873752"/>
            <a:ext cx="3246120" cy="438912"/>
          </a:xfrm>
          <a:prstGeom prst="roundRect">
            <a:avLst>
              <a:gd name="adj" fmla="val 18000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022592" y="4956048"/>
            <a:ext cx="274320" cy="27432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22592" y="495604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Segoe UI Symbol"/>
              </a:rPr>
              <a:t>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79208" y="4873752"/>
            <a:ext cx="28346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3F3F3F"/>
                </a:solidFill>
                <a:latin typeface="Arial"/>
              </a:rPr>
              <a:t>Evidencia adjunta · RAT_v2.pdf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052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111111"/>
                </a:solidFill>
                <a:latin typeface="Arial Narrow"/>
              </a:rPr>
              <a:t>LA PLATAFORMA HACE EL RESTO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A7A7A"/>
                </a:solidFill>
                <a:latin typeface="Arial"/>
              </a:rPr>
              <a:t>Tú respondes: de tus respuestas nacen el plan de acción y el informe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234440" cy="50292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ho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10896"/>
            <a:ext cx="1691640" cy="51689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920240"/>
            <a:ext cx="5285232" cy="1060704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1" y="21214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1" y="2121408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CC0000"/>
                </a:solidFill>
                <a:latin typeface="Segoe UI Symbo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648" y="2121408"/>
            <a:ext cx="3913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11111"/>
                </a:solidFill>
                <a:latin typeface="Arial Narrow"/>
              </a:rPr>
              <a:t>VALIDACIÓN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2450592"/>
            <a:ext cx="3867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El consultor revisa y valida cada respuesta.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6" y="1920240"/>
            <a:ext cx="5285232" cy="1060704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0" y="21214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21408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CC0000"/>
                </a:solidFill>
                <a:latin typeface="Segoe UI Symbol"/>
              </a:rPr>
              <a:t>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51776" y="2121408"/>
            <a:ext cx="3913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11111"/>
                </a:solidFill>
                <a:latin typeface="Arial Narrow"/>
              </a:rPr>
              <a:t>MOTOR DE BRECHAS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51776" y="2450592"/>
            <a:ext cx="3867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Las respuestas 0, 1 y 2 generan brechas automáticamente.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200400"/>
            <a:ext cx="5285232" cy="1060704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1" y="340156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1" y="3401568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CC0000"/>
                </a:solidFill>
                <a:latin typeface="Segoe UI Symbol"/>
              </a:rPr>
              <a:t>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5648" y="3401568"/>
            <a:ext cx="3913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11111"/>
                </a:solidFill>
                <a:latin typeface="Arial Narrow"/>
              </a:rPr>
              <a:t>MOTOR DE RIESGOS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3730752"/>
            <a:ext cx="3867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Cada brecha se pondera por probabilidad e impacto.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3056" y="3200400"/>
            <a:ext cx="5285232" cy="1060704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92240" y="340156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401568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CC0000"/>
                </a:solidFill>
                <a:latin typeface="Segoe UI Symbol"/>
              </a:rPr>
              <a:t>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776" y="3401568"/>
            <a:ext cx="3913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11111"/>
                </a:solidFill>
                <a:latin typeface="Arial Narrow"/>
              </a:rPr>
              <a:t>PLAN DE TRATAMIENTO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1776" y="3730752"/>
            <a:ext cx="3867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Acciones con responsable, plazo y evidencia esperada.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480560"/>
            <a:ext cx="5285232" cy="1060704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6111" y="468172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1" y="4681728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CC0000"/>
                </a:solidFill>
                <a:latin typeface="Segoe UI Symbol"/>
              </a:rPr>
              <a:t>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55648" y="4681728"/>
            <a:ext cx="3913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11111"/>
                </a:solidFill>
                <a:latin typeface="Arial Narrow"/>
              </a:rPr>
              <a:t>ÍNDICE DE MADUREZ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55648" y="5010912"/>
            <a:ext cx="3867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Resumen ejecutivo de madurez por dominio.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63056" y="4480560"/>
            <a:ext cx="5285232" cy="1060704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92240" y="468172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681728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0">
                <a:solidFill>
                  <a:srgbClr val="CC0000"/>
                </a:solidFill>
                <a:latin typeface="Segoe UI Symbol"/>
              </a:rPr>
              <a:t>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1776" y="4681728"/>
            <a:ext cx="3913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11111"/>
                </a:solidFill>
                <a:latin typeface="Arial Narrow"/>
              </a:rPr>
              <a:t>REPORTE TÉCNICO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51776" y="5010912"/>
            <a:ext cx="3867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Informe descargable, listo para presentar.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05332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C0000"/>
                </a:solidFill>
                <a:latin typeface="Arial Narrow"/>
              </a:rPr>
              <a:t>10 DOMINIOS  ·  </a:t>
            </a:r>
            <a:r>
              <a:rPr sz="1200" b="0">
                <a:solidFill>
                  <a:srgbClr val="7A7A7A"/>
                </a:solidFill>
                <a:latin typeface="Arial"/>
              </a:rPr>
              <a:t>Gobierno · RAT · Bases legales · Derechos · Seguridad · Terceros · Incidentes · Cultura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011680"/>
            <a:ext cx="7772400" cy="10881360"/>
          </a:xfrm>
          <a:prstGeom prst="ellipse">
            <a:avLst/>
          </a:prstGeom>
          <a:solidFill>
            <a:srgbClr val="B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honda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87" y="658368"/>
            <a:ext cx="2103120" cy="6426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828800"/>
            <a:ext cx="103628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4600" b="1">
                <a:solidFill>
                  <a:srgbClr val="FFFFFF"/>
                </a:solidFill>
                <a:latin typeface="Arial Narrow"/>
              </a:rPr>
              <a:t>TU AVANCE EMPIEZA</a:t>
            </a:r>
          </a:p>
          <a:p>
            <a:pPr algn="ctr">
              <a:lnSpc>
                <a:spcPct val="98000"/>
              </a:lnSpc>
            </a:pPr>
            <a:r>
              <a:rPr sz="4600" b="1">
                <a:solidFill>
                  <a:srgbClr val="FFFFFF"/>
                </a:solidFill>
                <a:latin typeface="Arial Narrow"/>
              </a:rPr>
              <a:t>CON UN CLIC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318607" y="3310128"/>
            <a:ext cx="1554480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602736"/>
            <a:ext cx="85340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Ingresa, responde a tu ritmo y retoma cuando quieras.</a:t>
            </a:r>
          </a:p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Cada pregunta acerca a Honda a la meta.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92727" y="4590288"/>
            <a:ext cx="420624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92727" y="4590288"/>
            <a:ext cx="4206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C0000"/>
                </a:solidFill>
                <a:latin typeface="Arial Narrow"/>
              </a:rPr>
              <a:t>LPDP.PROCESOS360.CL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49824"/>
            <a:ext cx="8534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F5C9C9"/>
                </a:solidFill>
                <a:latin typeface="Arial"/>
              </a:rPr>
              <a:t>Recibirás tu usuario y contraseña por correo.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97399" y="5815584"/>
            <a:ext cx="2596896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go-p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287" y="5888736"/>
            <a:ext cx="2103120" cy="4791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